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6"/>
  </p:handoutMasterIdLst>
  <p:sldIdLst>
    <p:sldId id="338" r:id="rId3"/>
    <p:sldId id="327" r:id="rId4"/>
    <p:sldId id="315" r:id="rId5"/>
    <p:sldId id="329" r:id="rId6"/>
    <p:sldId id="302" r:id="rId7"/>
    <p:sldId id="339" r:id="rId9"/>
    <p:sldId id="340" r:id="rId10"/>
    <p:sldId id="341" r:id="rId11"/>
    <p:sldId id="344" r:id="rId12"/>
    <p:sldId id="342" r:id="rId13"/>
    <p:sldId id="343"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8.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9.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0.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5619115" y="3954780"/>
            <a:ext cx="4180840" cy="1348105"/>
          </a:xfrm>
        </p:spPr>
        <p:txBody>
          <a:bodyPr>
            <a:normAutofit fontScale="80000"/>
          </a:bodyPr>
          <a:lstStyle/>
          <a:p>
            <a:pPr algn="r"/>
            <a:r>
              <a:rPr lang="en-IN" altLang="en-US" b="0" dirty="0">
                <a:solidFill>
                  <a:schemeClr val="tx1"/>
                </a:solidFill>
              </a:rPr>
              <a:t>Name:Anjali Dongre</a:t>
            </a:r>
            <a:endParaRPr lang="en-IN" altLang="en-US" b="0" dirty="0">
              <a:solidFill>
                <a:schemeClr val="tx1"/>
              </a:solidFill>
            </a:endParaRPr>
          </a:p>
          <a:p>
            <a:pPr algn="r"/>
            <a:r>
              <a:rPr lang="en-US" b="0" dirty="0">
                <a:solidFill>
                  <a:schemeClr val="tx1"/>
                </a:solidFill>
              </a:rPr>
              <a:t> ID</a:t>
            </a:r>
            <a:r>
              <a:rPr lang="en-IN" altLang="en-US" b="0" dirty="0">
                <a:solidFill>
                  <a:schemeClr val="tx1"/>
                </a:solidFill>
              </a:rPr>
              <a:t>:</a:t>
            </a:r>
            <a:r>
              <a:rPr lang="en-US" altLang="en-US" b="0" dirty="0">
                <a:solidFill>
                  <a:schemeClr val="tx1"/>
                </a:solidFill>
                <a:sym typeface="+mn-ea"/>
              </a:rPr>
              <a:t>INTERNSHIP_17546440516895be537820f</a:t>
            </a:r>
            <a:endParaRPr lang="en-US" altLang="en-US" b="0" dirty="0">
              <a:solidFill>
                <a:schemeClr val="tx1"/>
              </a:solidFill>
            </a:endParaRPr>
          </a:p>
          <a:p>
            <a:pPr algn="r"/>
            <a:r>
              <a:rPr lang="en-IN" altLang="en-US" b="0" dirty="0">
                <a:solidFill>
                  <a:schemeClr val="tx1"/>
                </a:solidFill>
              </a:rPr>
              <a:t> </a:t>
            </a:r>
            <a:endParaRPr lang="en-IN" altLang="en-US" b="0" dirty="0">
              <a:solidFill>
                <a:schemeClr val="tx1"/>
              </a:solidFill>
            </a:endParaRPr>
          </a:p>
        </p:txBody>
      </p:sp>
      <p:sp>
        <p:nvSpPr>
          <p:cNvPr id="4" name="Title 3"/>
          <p:cNvSpPr>
            <a:spLocks noGrp="1"/>
          </p:cNvSpPr>
          <p:nvPr>
            <p:ph type="title"/>
          </p:nvPr>
        </p:nvSpPr>
        <p:spPr>
          <a:xfrm>
            <a:off x="4714240" y="1963420"/>
            <a:ext cx="5431790" cy="917575"/>
          </a:xfrm>
        </p:spPr>
        <p:txBody>
          <a:bodyPr>
            <a:normAutofit/>
          </a:bodyPr>
          <a:lstStyle/>
          <a:p>
            <a:r>
              <a:rPr lang="en-US" altLang="en-US" sz="3200" dirty="0"/>
              <a:t>Netflix Data Analysis Project</a:t>
            </a:r>
            <a:endParaRPr lang="en-US" altLang="en-US" sz="3200" dirty="0"/>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414700" y="1914255"/>
            <a:ext cx="6431280" cy="3607987"/>
          </a:xfrm>
        </p:spPr>
        <p:txBody>
          <a:bodyPr>
            <a:normAutofit fontScale="85000" lnSpcReduction="10000"/>
          </a:bodyPr>
          <a:lstStyle/>
          <a:p>
            <a:pPr fontAlgn="base"/>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endParaRPr lang="en-US" dirty="0"/>
          </a:p>
          <a:p>
            <a:pPr fontAlgn="base"/>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 </a:t>
            </a:r>
            <a:endParaRPr lang="en-US" dirty="0"/>
          </a:p>
          <a:p>
            <a:pPr>
              <a:lnSpc>
                <a:spcPct val="150000"/>
              </a:lnSpc>
            </a:pPr>
            <a:endParaRPr lang="en-IN" sz="2800"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
        <p:nvSpPr>
          <p:cNvPr id="4" name="TextBox 3"/>
          <p:cNvSpPr txBox="1"/>
          <p:nvPr/>
        </p:nvSpPr>
        <p:spPr>
          <a:xfrm>
            <a:off x="532673" y="2038176"/>
            <a:ext cx="9601200" cy="3970318"/>
          </a:xfrm>
          <a:prstGeom prst="rect">
            <a:avLst/>
          </a:prstGeom>
          <a:noFill/>
        </p:spPr>
        <p:txBody>
          <a:bodyPr wrap="square">
            <a:spAutoFit/>
          </a:bodyPr>
          <a:lstStyle/>
          <a:p>
            <a:pPr>
              <a:buFont typeface="+mj-lt"/>
              <a:buAutoNum type="arabicPeriod"/>
            </a:pPr>
            <a:r>
              <a:rPr lang="en-US" b="1" dirty="0"/>
              <a:t>Analyze</a:t>
            </a:r>
            <a:r>
              <a:rPr lang="en-US" dirty="0"/>
              <a:t> the distribution and growth of Movies and TV Shows on Netflix over the years.</a:t>
            </a:r>
            <a:endParaRPr lang="en-US" dirty="0"/>
          </a:p>
          <a:p>
            <a:pPr>
              <a:buFont typeface="+mj-lt"/>
              <a:buAutoNum type="arabicPeriod"/>
            </a:pPr>
            <a:r>
              <a:rPr lang="en-US" b="1" dirty="0"/>
              <a:t>Identify</a:t>
            </a:r>
            <a:r>
              <a:rPr lang="en-US" dirty="0"/>
              <a:t> the most frequent genres and observe changes in their popularity.</a:t>
            </a:r>
            <a:endParaRPr lang="en-US" dirty="0"/>
          </a:p>
          <a:p>
            <a:pPr>
              <a:buFont typeface="+mj-lt"/>
              <a:buAutoNum type="arabicPeriod"/>
            </a:pPr>
            <a:r>
              <a:rPr lang="en-US" b="1" dirty="0"/>
              <a:t>Compare</a:t>
            </a:r>
            <a:r>
              <a:rPr lang="en-US" dirty="0"/>
              <a:t> country-wise contributions to Netflix’s content base to assess global diversity.</a:t>
            </a:r>
            <a:endParaRPr lang="en-US" dirty="0"/>
          </a:p>
          <a:p>
            <a:pPr>
              <a:buFont typeface="+mj-lt"/>
              <a:buAutoNum type="arabicPeriod"/>
            </a:pPr>
            <a:r>
              <a:rPr lang="en-US" b="1" dirty="0"/>
              <a:t>Provide</a:t>
            </a:r>
            <a:r>
              <a:rPr lang="en-US" dirty="0"/>
              <a:t> strategic recommendations for future content acquisition and production.</a:t>
            </a:r>
            <a:endParaRPr lang="en-US" dirty="0"/>
          </a:p>
          <a:p>
            <a:pPr>
              <a:buNone/>
            </a:pPr>
            <a:br>
              <a:rPr lang="en-US" dirty="0"/>
            </a:br>
            <a:endParaRPr lang="en-US" dirty="0"/>
          </a:p>
          <a:p>
            <a:pPr>
              <a:buNone/>
            </a:pPr>
            <a:r>
              <a:rPr lang="en-US" b="1" dirty="0"/>
              <a:t>Significance of the Study</a:t>
            </a:r>
            <a:endParaRPr lang="en-US" b="1" dirty="0"/>
          </a:p>
          <a:p>
            <a:pPr>
              <a:buNone/>
            </a:pPr>
            <a:r>
              <a:rPr lang="en-US" dirty="0"/>
              <a:t>This analysis is significant for understanding Netflix’s </a:t>
            </a:r>
            <a:r>
              <a:rPr lang="en-US" b="1" dirty="0"/>
              <a:t>content evolution and audience engagement patterns</a:t>
            </a:r>
            <a:r>
              <a:rPr lang="en-US" dirty="0"/>
              <a:t>. By identifying popular genres and underrepresented regions, the study offers actionable insights that can help Netflix make </a:t>
            </a:r>
            <a:r>
              <a:rPr lang="en-US" b="1" dirty="0"/>
              <a:t>data-driven business decisions</a:t>
            </a:r>
            <a:r>
              <a:rPr lang="en-US" dirty="0"/>
              <a:t>. Such findings are valuable for:</a:t>
            </a:r>
            <a:endParaRPr lang="en-US" dirty="0"/>
          </a:p>
          <a:p>
            <a:pPr>
              <a:buFont typeface="Arial" panose="020B0604020202020204" pitchFamily="34" charset="0"/>
              <a:buChar char="•"/>
            </a:pPr>
            <a:r>
              <a:rPr lang="en-US" dirty="0"/>
              <a:t>Enhancing </a:t>
            </a:r>
            <a:r>
              <a:rPr lang="en-US" b="1" dirty="0"/>
              <a:t>content strategy</a:t>
            </a:r>
            <a:r>
              <a:rPr lang="en-US" dirty="0"/>
              <a:t> and balancing global vs. local productions.</a:t>
            </a:r>
            <a:endParaRPr lang="en-US" dirty="0"/>
          </a:p>
          <a:p>
            <a:pPr>
              <a:buFont typeface="Arial" panose="020B0604020202020204" pitchFamily="34" charset="0"/>
              <a:buChar char="•"/>
            </a:pPr>
            <a:r>
              <a:rPr lang="en-US" dirty="0"/>
              <a:t>Recognizing </a:t>
            </a:r>
            <a:r>
              <a:rPr lang="en-US" b="1" dirty="0"/>
              <a:t>market trends</a:t>
            </a:r>
            <a:r>
              <a:rPr lang="en-US" dirty="0"/>
              <a:t> and regional viewer interests.</a:t>
            </a:r>
            <a:endParaRPr lang="en-US" dirty="0"/>
          </a:p>
          <a:p>
            <a:pPr>
              <a:buFont typeface="Arial" panose="020B0604020202020204" pitchFamily="34" charset="0"/>
              <a:buChar char="•"/>
            </a:pPr>
            <a:r>
              <a:rPr lang="en-US" dirty="0"/>
              <a:t>Supporting </a:t>
            </a:r>
            <a:r>
              <a:rPr lang="en-US" b="1" dirty="0"/>
              <a:t>strategic investments</a:t>
            </a:r>
            <a:r>
              <a:rPr lang="en-US" dirty="0"/>
              <a:t> in specific content types and countries.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
        <p:nvSpPr>
          <p:cNvPr id="3" name="Rectangle 1"/>
          <p:cNvSpPr>
            <a:spLocks noGrp="1" noChangeArrowheads="1"/>
          </p:cNvSpPr>
          <p:nvPr>
            <p:ph type="body" sz="quarter" idx="12"/>
          </p:nvPr>
        </p:nvSpPr>
        <p:spPr bwMode="auto">
          <a:xfrm>
            <a:off x="543443" y="2213310"/>
            <a:ext cx="82926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Netflix Management and Strategy Team</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Netflix Content and Production Teams</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Netflix Data Analytics and Insights Department</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Data Analysts and Data Scientists (in the OTT or media industry)</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Academic Researchers and Students (studying data analytics or media trends)</a:t>
            </a:r>
            <a:endParaRPr kumimoji="0" lang="en-US" altLang="en-US"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i="0" u="none" strike="noStrike" cap="none" normalizeH="0" baseline="0" dirty="0">
                <a:ln>
                  <a:noFill/>
                </a:ln>
                <a:solidFill>
                  <a:schemeClr val="tx1"/>
                </a:solidFill>
                <a:effectLst/>
                <a:latin typeface="Arial" panose="020B0604020202020204" pitchFamily="34" charset="0"/>
              </a:rPr>
              <a:t>Business Analysts and Market Researchers</a:t>
            </a: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7" name="Text Placeholder 6"/>
          <p:cNvSpPr>
            <a:spLocks noGrp="1"/>
          </p:cNvSpPr>
          <p:nvPr>
            <p:ph type="body" sz="quarter" idx="12"/>
          </p:nvPr>
        </p:nvSpPr>
        <p:spPr>
          <a:xfrm>
            <a:off x="391886" y="1246961"/>
            <a:ext cx="9027702" cy="5243448"/>
          </a:xfrm>
        </p:spPr>
        <p:txBody>
          <a:bodyPr/>
          <a:lstStyle/>
          <a:p>
            <a:pPr lvl="1">
              <a:lnSpc>
                <a:spcPct val="150000"/>
              </a:lnSpc>
            </a:pPr>
            <a:r>
              <a:rPr lang="en-IN" dirty="0"/>
              <a:t>Python</a:t>
            </a:r>
            <a:endParaRPr lang="en-IN" dirty="0"/>
          </a:p>
          <a:p>
            <a:pPr lvl="1">
              <a:lnSpc>
                <a:spcPct val="150000"/>
              </a:lnSpc>
            </a:pPr>
            <a:r>
              <a:rPr lang="en-IN" dirty="0" err="1"/>
              <a:t>Jupyter</a:t>
            </a:r>
            <a:r>
              <a:rPr lang="en-IN" dirty="0"/>
              <a:t> Notebook</a:t>
            </a:r>
            <a:endParaRPr lang="en-IN" dirty="0"/>
          </a:p>
          <a:p>
            <a:pPr lvl="1">
              <a:lnSpc>
                <a:spcPct val="150000"/>
              </a:lnSpc>
            </a:pPr>
            <a:r>
              <a:rPr lang="en-IN" dirty="0"/>
              <a:t>Google </a:t>
            </a:r>
            <a:r>
              <a:rPr lang="en-IN" dirty="0" err="1"/>
              <a:t>colab</a:t>
            </a:r>
            <a:endParaRPr lang="en-IN" dirty="0"/>
          </a:p>
          <a:p>
            <a:pPr lvl="1">
              <a:lnSpc>
                <a:spcPct val="150000"/>
              </a:lnSpc>
            </a:pPr>
            <a:r>
              <a:rPr lang="en-IN" dirty="0"/>
              <a:t>Matplotlib</a:t>
            </a:r>
            <a:endParaRPr lang="en-IN" dirty="0"/>
          </a:p>
          <a:p>
            <a:pPr lvl="1">
              <a:lnSpc>
                <a:spcPct val="150000"/>
              </a:lnSpc>
            </a:pPr>
            <a:r>
              <a:rPr lang="en-IN" dirty="0" err="1"/>
              <a:t>numpy</a:t>
            </a:r>
            <a:endParaRPr lang="en-IN" dirty="0"/>
          </a:p>
        </p:txBody>
      </p:sp>
      <p:sp>
        <p:nvSpPr>
          <p:cNvPr id="9" name="Title 8"/>
          <p:cNvSpPr>
            <a:spLocks noGrp="1"/>
          </p:cNvSpPr>
          <p:nvPr>
            <p:ph type="title"/>
          </p:nvPr>
        </p:nvSpPr>
        <p:spPr>
          <a:xfrm>
            <a:off x="660399" y="430567"/>
            <a:ext cx="5306291" cy="847817"/>
          </a:xfrm>
        </p:spPr>
        <p:txBody>
          <a:bodyPr>
            <a:normAutofit/>
          </a:bodyPr>
          <a:lstStyle/>
          <a:p>
            <a:r>
              <a:rPr lang="en-US" dirty="0"/>
              <a:t>Technology Used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p:cNvPicPr>
            <a:picLocks noChangeAspect="1"/>
          </p:cNvPicPr>
          <p:nvPr/>
        </p:nvPicPr>
        <p:blipFill>
          <a:blip r:embed="rId2"/>
          <a:stretch>
            <a:fillRect/>
          </a:stretch>
        </p:blipFill>
        <p:spPr>
          <a:xfrm>
            <a:off x="823595" y="1275080"/>
            <a:ext cx="8342630" cy="4635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2"/>
          <a:stretch>
            <a:fillRect/>
          </a:stretch>
        </p:blipFill>
        <p:spPr>
          <a:xfrm>
            <a:off x="919480" y="1070610"/>
            <a:ext cx="7960360" cy="49949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2"/>
          <a:stretch>
            <a:fillRect/>
          </a:stretch>
        </p:blipFill>
        <p:spPr>
          <a:xfrm>
            <a:off x="614680" y="1201420"/>
            <a:ext cx="8676640" cy="53968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6115368" cy="878622"/>
          </a:xfrm>
        </p:spPr>
        <p:txBody>
          <a:bodyPr>
            <a:normAutofit/>
          </a:bodyPr>
          <a:lstStyle/>
          <a:p>
            <a:r>
              <a:rPr lang="en-GB" dirty="0"/>
              <a:t>GitHub repository </a:t>
            </a:r>
            <a:endParaRPr lang="en-GB"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p:cNvSpPr>
            <a:spLocks noGrp="1"/>
          </p:cNvSpPr>
          <p:nvPr>
            <p:ph type="body" sz="quarter" idx="12"/>
          </p:nvPr>
        </p:nvSpPr>
        <p:spPr>
          <a:xfrm>
            <a:off x="807164" y="1406106"/>
            <a:ext cx="5984161" cy="2579557"/>
          </a:xfrm>
        </p:spPr>
        <p:txBody>
          <a:bodyPr vert="horz" lIns="91440" tIns="45720" rIns="91440" bIns="45720" rtlCol="0" anchor="t">
            <a:normAutofit/>
          </a:bodyPr>
          <a:lstStyle/>
          <a:p>
            <a:pPr marL="0" indent="0">
              <a:buNone/>
            </a:pPr>
            <a:r>
              <a:rPr lang="en-US" dirty="0"/>
              <a:t>  </a:t>
            </a:r>
            <a:r>
              <a:rPr lang="en-US" altLang="en-US" dirty="0"/>
              <a:t>https://github.com/AnniDongre/VOIS_AICTE_Oct2025_AnjaliDongre.git</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153443" y="37059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p:cNvPicPr>
            <a:picLocks noChangeAspect="1"/>
          </p:cNvPicPr>
          <p:nvPr/>
        </p:nvPicPr>
        <p:blipFill>
          <a:blip r:embed="rId2"/>
          <a:stretch>
            <a:fillRect/>
          </a:stretch>
        </p:blipFill>
        <p:spPr>
          <a:xfrm>
            <a:off x="911225" y="1081405"/>
            <a:ext cx="8049260" cy="53905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p:cNvPicPr>
            <a:picLocks noChangeAspect="1"/>
          </p:cNvPicPr>
          <p:nvPr/>
        </p:nvPicPr>
        <p:blipFill>
          <a:blip r:embed="rId2"/>
          <a:stretch>
            <a:fillRect/>
          </a:stretch>
        </p:blipFill>
        <p:spPr>
          <a:xfrm>
            <a:off x="611505" y="1275080"/>
            <a:ext cx="8413750" cy="5283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733550" y="3079115"/>
            <a:ext cx="8196580" cy="700405"/>
          </a:xfrm>
          <a:prstGeom prst="rect">
            <a:avLst/>
          </a:prstGeom>
        </p:spPr>
        <p:txBody>
          <a:bodyPr anchor="ctr">
            <a:normAutofit fontScale="90000"/>
          </a:bodyPr>
          <a:lstStyle/>
          <a:p>
            <a:pPr algn="ctr"/>
            <a:r>
              <a:rPr lang="en-US" sz="4800" b="1" dirty="0">
                <a:solidFill>
                  <a:schemeClr val="tx1"/>
                </a:solidFill>
              </a:rPr>
              <a:t>Thank you</a:t>
            </a:r>
            <a:endParaRPr lang="en-US" sz="4800" b="1" dirty="0">
              <a:solidFill>
                <a:schemeClr val="tx1"/>
              </a:solidFill>
            </a:endParaRPr>
          </a:p>
        </p:txBody>
      </p:sp>
      <p:sp>
        <p:nvSpPr>
          <p:cNvPr id="31" name="Text Placeholder 30"/>
          <p:cNvSpPr>
            <a:spLocks noGrp="1"/>
          </p:cNvSpPr>
          <p:nvPr>
            <p:ph type="body" sz="quarter" idx="13"/>
          </p:nvPr>
        </p:nvSpPr>
        <p:spPr>
          <a:xfrm>
            <a:off x="3727865" y="4641925"/>
            <a:ext cx="2139695" cy="1108635"/>
          </a:xfrm>
        </p:spPr>
        <p:txBody>
          <a:bodyPr>
            <a:normAutofit/>
          </a:bodyPr>
          <a:lstStyle/>
          <a:p>
            <a:r>
              <a:rPr lang="en-US" dirty="0"/>
              <a:t>.</a:t>
            </a:r>
            <a:endParaRPr lang="en-US" dirty="0"/>
          </a:p>
        </p:txBody>
      </p:sp>
      <p:sp>
        <p:nvSpPr>
          <p:cNvPr id="17" name="Text Placeholder 28"/>
          <p:cNvSpPr txBox="1"/>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p:cNvSpPr txBox="1"/>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p:cNvSpPr txBox="1"/>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r>
              <a:rPr lang="en-GB" dirty="0"/>
              <a:t>.</a:t>
            </a:r>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datastoreItem>
</file>

<file path=customXml/itemProps2.xml><?xml version="1.0" encoding="utf-8"?>
<ds:datastoreItem xmlns:ds="http://schemas.openxmlformats.org/officeDocument/2006/customXml" ds:itemID="{05D99ABA-76CE-4A8E-B5F0-C051B96628DE}">
  <ds:schemaRefs/>
</ds:datastoreItem>
</file>

<file path=customXml/itemProps3.xml><?xml version="1.0" encoding="utf-8"?>
<ds:datastoreItem xmlns:ds="http://schemas.openxmlformats.org/officeDocument/2006/customXml" ds:itemID="{B19EB750-A6DA-4BE8-B87B-FC499FE73360}">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2317</Words>
  <Application>WPS Presentation</Application>
  <PresentationFormat>Widescreen</PresentationFormat>
  <Paragraphs>62</Paragraphs>
  <Slides>12</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12</vt:i4>
      </vt:variant>
    </vt:vector>
  </HeadingPairs>
  <TitlesOfParts>
    <vt:vector size="22" baseType="lpstr">
      <vt:lpstr>Arial</vt:lpstr>
      <vt:lpstr>SimSun</vt:lpstr>
      <vt:lpstr>Wingdings</vt:lpstr>
      <vt:lpstr>Wingdings 3</vt:lpstr>
      <vt:lpstr>Arial</vt:lpstr>
      <vt:lpstr>Calibri</vt:lpstr>
      <vt:lpstr>Trebuchet MS</vt:lpstr>
      <vt:lpstr>Microsoft YaHei</vt:lpstr>
      <vt:lpstr>Arial Unicode MS</vt:lpstr>
      <vt:lpstr>Facet</vt:lpstr>
      <vt:lpstr>Project Title -</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Anjali Dongre</cp:lastModifiedBy>
  <cp:revision>117</cp:revision>
  <dcterms:created xsi:type="dcterms:W3CDTF">2021-07-11T13:13:00Z</dcterms:created>
  <dcterms:modified xsi:type="dcterms:W3CDTF">2025-10-18T12:54:46Z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A0276E5DF456489A94520B4E16CCC25F_12</vt:lpwstr>
  </property>
  <property fmtid="{D5CDD505-2E9C-101B-9397-08002B2CF9AE}" pid="4" name="KSOProductBuildVer">
    <vt:lpwstr>1033-12.2.0.22549</vt:lpwstr>
  </property>
</Properties>
</file>